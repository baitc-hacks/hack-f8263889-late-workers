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Поздороваться, представить команду. Одна фраза: мы соединяем бизнес, которому некому поручить задачу, и студентов, которым негде взять реальный опыт.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задерживаться: обе стороны знакомы жюри. Ключ — фраза про мост, она ведёт к следующему слайду.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предложения — три роли: бизнес, AI, команда. Дальше показываем, как это устроено по шагам.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Синие шаги — сторона бизнеса и AI, жёлтые — студенты. Полный цикл, обе стороны закрыты.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слайд. Подчеркнуть анти-галлюцинации: AI не выдумывает цифры — каждая сверяется с текстом бизнеса. И фолбэк: демо не умрёт, даже если OpenAI ляжет.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Справа — реальная панель из демо, цифры настоящие. Платформа не просто хостит задачу — она подсказывает бизнесу, как сделать её привлекательнее.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Сторона студента — быстро: фильтры, команда, один отклик, баллы. Мостик к демо: всё это сейчас покажем.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читать список — назвать три вещи: настоящий Postgres в тестах, AI с фолбэком, всё поднимается одной командой.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Держать этот слайд открытым как план демо, если что-то пойдёт не так. Порядок логинов: owner@zerno.kz → arman@student.kz. Пароль demo2026.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Закончить на тройной выгоде и открыть вопросы. Если спросят про монетизацию — комиссия с эскроу-платежей в роадмапе.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1135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200" kern="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BAITC HACKS 2026 · КОМАНДА LATE WORKERS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2396430"/>
            <a:ext cx="10883392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F2F5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taskbridge</a:t>
            </a:r>
            <a:r>
              <a:rPr lang="en-US" sz="7500" b="1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812800" y="3602930"/>
            <a:ext cx="10883392" cy="84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F2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Маркетплейс задач: бизнес ставит задачу —</a:t>
            </a:r>
            <a:endParaRPr lang="en-US" sz="27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F2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студенческие команды её решают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12800" y="467985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FB0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превращает описание проблемы своими словами в понятную задачу с рейтингом качества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Две стороны одной проблемы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98216"/>
            <a:ext cx="5175250" cy="3844429"/>
          </a:xfrm>
          <a:prstGeom prst="roundRect">
            <a:avLst>
              <a:gd name="adj" fmla="val 3221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1906191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3563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БИЗНЕС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3950" y="2246511"/>
            <a:ext cx="469607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Есть боль — нет задачи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3950" y="2678311"/>
            <a:ext cx="4696079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0980" indent="-176149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Малый бизнес знает, что болит, но не умеет писать ТЗ</a:t>
            </a:r>
            <a:endParaRPr lang="en-US" sz="1450" dirty="0"/>
          </a:p>
          <a:p>
            <a:pPr algn="l" marL="220980" indent="-176149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Задача «сделайте нам хорошо» не находит исполнителя</a:t>
            </a:r>
            <a:endParaRPr lang="en-US" sz="1450" dirty="0"/>
          </a:p>
          <a:p>
            <a:pPr algn="l" marL="220980" indent="-176149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Агентства дороги, фриланс — лотерея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00775" y="1598216"/>
            <a:ext cx="5175250" cy="3844429"/>
          </a:xfrm>
          <a:prstGeom prst="roundRect">
            <a:avLst>
              <a:gd name="adj" fmla="val 3221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8750" y="1906191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СТУДЕНТЫ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08750" y="2246511"/>
            <a:ext cx="469607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Есть навыки — нет опыта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08750" y="2678311"/>
            <a:ext cx="4696079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0980" indent="-176149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Портфолио не собрать на учебных проектах</a:t>
            </a:r>
            <a:endParaRPr lang="en-US" sz="1450" dirty="0"/>
          </a:p>
          <a:p>
            <a:pPr algn="l" marL="220980" indent="-176149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Реальный заказчик недосягаем без опыта</a:t>
            </a:r>
            <a:endParaRPr lang="en-US" sz="1450" dirty="0"/>
          </a:p>
          <a:p>
            <a:pPr algn="l" marL="220980" indent="-176149">
              <a:lnSpc>
                <a:spcPts val="2175"/>
              </a:lnSpc>
              <a:buSzPct val="100000"/>
              <a:buChar char="•"/>
            </a:pPr>
            <a:r>
              <a:rPr lang="en-US" sz="145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Замкнутый круг: без опыта не берут, без работы нет опыта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2800" y="572522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Они нужны друг другу — но между ними нет моста.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56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32384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200" kern="0" dirty="0">
                <a:solidFill>
                  <a:srgbClr val="C8D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2468265"/>
            <a:ext cx="10883392" cy="1478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1" dirty="0">
                <a:solidFill>
                  <a:srgbClr val="F9F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TaskBridge — мост между</a:t>
            </a:r>
            <a:endParaRPr lang="en-US" sz="5200" dirty="0"/>
          </a:p>
          <a:p>
            <a:pPr algn="l" indent="0" marL="0">
              <a:lnSpc>
                <a:spcPts val="5720"/>
              </a:lnSpc>
              <a:buNone/>
            </a:pPr>
            <a:r>
              <a:rPr lang="en-US" sz="5200" b="1" dirty="0">
                <a:solidFill>
                  <a:srgbClr val="F9F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бизнесом и студентами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225826"/>
            <a:ext cx="10883392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5"/>
              </a:lnSpc>
              <a:buNone/>
            </a:pPr>
            <a:r>
              <a:rPr lang="en-US" sz="1900" dirty="0">
                <a:solidFill>
                  <a:srgbClr val="DDE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Бизнес описывает проблему своими словами. AI собирает из неё структурированную задачу. Студенческие команды решают её по этапам — и обе стороны видят прогресс.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Как это работает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98216"/>
            <a:ext cx="3414117" cy="2142530"/>
          </a:xfrm>
          <a:prstGeom prst="roundRect">
            <a:avLst>
              <a:gd name="adj" fmla="val 5779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829991"/>
            <a:ext cx="30390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563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47750" y="2167731"/>
            <a:ext cx="30390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741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Бизнес описывает боль свободным текстом — никакого ТЗ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8842" y="1598216"/>
            <a:ext cx="3414216" cy="2142530"/>
          </a:xfrm>
          <a:prstGeom prst="roundRect">
            <a:avLst>
              <a:gd name="adj" fmla="val 5779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20617" y="1829991"/>
            <a:ext cx="303918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563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20617" y="2167731"/>
            <a:ext cx="303918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741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собирает карточку из 7 блоков, задаёт уточняющие вопросы и ставит рейтинг 0–100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61809" y="1598216"/>
            <a:ext cx="3414117" cy="2142530"/>
          </a:xfrm>
          <a:prstGeom prst="roundRect">
            <a:avLst>
              <a:gd name="adj" fmla="val 5779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3584" y="1829991"/>
            <a:ext cx="30390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563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93584" y="2167731"/>
            <a:ext cx="30390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741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Задача попадает в каталог — с уровнем готовности и бейджами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899495"/>
            <a:ext cx="3414117" cy="2142530"/>
          </a:xfrm>
          <a:prstGeom prst="roundRect">
            <a:avLst>
              <a:gd name="adj" fmla="val 5779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7750" y="4131270"/>
            <a:ext cx="30390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7750" y="4469011"/>
            <a:ext cx="303908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741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Студенческие команды до 5 человек откликаются с планом и сроком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8842" y="3899495"/>
            <a:ext cx="3414216" cy="2142530"/>
          </a:xfrm>
          <a:prstGeom prst="roundRect">
            <a:avLst>
              <a:gd name="adj" fmla="val 5779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0617" y="4131270"/>
            <a:ext cx="303918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20617" y="4469011"/>
            <a:ext cx="303918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741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Бизнес сравнивает отклики и выбирает команду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61809" y="3899495"/>
            <a:ext cx="3414117" cy="2142530"/>
          </a:xfrm>
          <a:prstGeom prst="roundRect">
            <a:avLst>
              <a:gd name="adj" fmla="val 5779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584" y="4131270"/>
            <a:ext cx="30390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93584" y="4469011"/>
            <a:ext cx="303908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741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Работа идёт по этапам: подтверждённый этап — баллы команде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AI-конструктор — сердце платформы</a:t>
            </a:r>
            <a:endParaRPr lang="en-US" sz="3200" dirty="0"/>
          </a:p>
        </p:txBody>
      </p:sp>
      <p:pic>
        <p:nvPicPr>
          <p:cNvPr id="3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539180"/>
            <a:ext cx="215900" cy="215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539180"/>
            <a:ext cx="562483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D5DE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Свободный текст превращается в карточку из 7 блоков: проблема, данные, пользователи, ограничения и другие</a:t>
            </a:r>
            <a:endParaRPr lang="en-US" sz="1450" dirty="0"/>
          </a:p>
        </p:txBody>
      </p:sp>
      <p:pic>
        <p:nvPicPr>
          <p:cNvPr id="5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232521"/>
            <a:ext cx="215900" cy="215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2232521"/>
            <a:ext cx="562483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D5DE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Если информации мало — AI задаёт уточняющие вопросы, раунд за раундом</a:t>
            </a:r>
            <a:endParaRPr lang="en-US" sz="1450" dirty="0"/>
          </a:p>
        </p:txBody>
      </p:sp>
      <p:pic>
        <p:nvPicPr>
          <p:cNvPr id="7" name="Image 2" descr="Verifie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2925862"/>
            <a:ext cx="215900" cy="215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43000" y="2925862"/>
            <a:ext cx="562483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D5DE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Анти-галлюцинации: в карточку попадают только факты из текста бизнеса, каждая цифра сверяется с источником</a:t>
            </a:r>
            <a:endParaRPr lang="en-US" sz="1450" dirty="0"/>
          </a:p>
        </p:txBody>
      </p:sp>
      <p:pic>
        <p:nvPicPr>
          <p:cNvPr id="9" name="Image 3" descr="Databa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3619202"/>
            <a:ext cx="215900" cy="2159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43000" y="3619202"/>
            <a:ext cx="562483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D5DE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Кэш ответов, часовые лимиты и журнал всех вызовов — расходы на AI под контролем</a:t>
            </a:r>
            <a:endParaRPr lang="en-US" sz="1450" dirty="0"/>
          </a:p>
        </p:txBody>
      </p:sp>
      <p:pic>
        <p:nvPicPr>
          <p:cNvPr id="11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4312543"/>
            <a:ext cx="215900" cy="2159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43000" y="4312543"/>
            <a:ext cx="562483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D5DE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недоступен? Детерминированный фолбэк — платформа работает и без AI</a:t>
            </a:r>
            <a:endParaRPr lang="en-US" sz="1450" dirty="0"/>
          </a:p>
        </p:txBody>
      </p:sp>
      <p:sp>
        <p:nvSpPr>
          <p:cNvPr id="13" name="Shape 6"/>
          <p:cNvSpPr/>
          <p:nvPr/>
        </p:nvSpPr>
        <p:spPr>
          <a:xfrm>
            <a:off x="6908800" y="1539180"/>
            <a:ext cx="4470400" cy="4506020"/>
          </a:xfrm>
          <a:prstGeom prst="roundRect">
            <a:avLst>
              <a:gd name="adj" fmla="val 3409"/>
            </a:avLst>
          </a:prstGeom>
          <a:solidFill>
            <a:srgbClr val="1A2537"/>
          </a:solidFill>
          <a:ln/>
        </p:spPr>
      </p:sp>
      <p:sp>
        <p:nvSpPr>
          <p:cNvPr id="14" name="Text 7"/>
          <p:cNvSpPr/>
          <p:nvPr/>
        </p:nvSpPr>
        <p:spPr>
          <a:xfrm>
            <a:off x="7213600" y="1843980"/>
            <a:ext cx="13005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ЖИВАЯ ОЦЕНКА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7213600" y="2184301"/>
            <a:ext cx="1580356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00"/>
              </a:lnSpc>
              <a:buNone/>
            </a:pPr>
            <a:r>
              <a:rPr lang="en-US" sz="9500" b="1" dirty="0">
                <a:solidFill>
                  <a:srgbClr val="F5A6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96</a:t>
            </a:r>
            <a:endParaRPr lang="en-US" sz="9500" dirty="0"/>
          </a:p>
        </p:txBody>
      </p:sp>
      <p:sp>
        <p:nvSpPr>
          <p:cNvPr id="16" name="Text 9"/>
          <p:cNvSpPr/>
          <p:nvPr/>
        </p:nvSpPr>
        <p:spPr>
          <a:xfrm>
            <a:off x="7213600" y="3517801"/>
            <a:ext cx="3976624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D5DE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«Приоритетная» — рейтинг задачи, собранной AI на нашем демо</a:t>
            </a:r>
            <a:endParaRPr lang="en-US" sz="1500" dirty="0"/>
          </a:p>
        </p:txBody>
      </p:sp>
      <p:pic>
        <p:nvPicPr>
          <p:cNvPr id="17" name="Image 5" descr="lin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213600" y="4159151"/>
            <a:ext cx="12700" cy="127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213600" y="4298851"/>
            <a:ext cx="3052676" cy="75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0–39 требует уточнения · 40–69 рабочая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70–89 готовая · </a:t>
            </a:r>
            <a:r>
              <a:rPr lang="en-US" sz="1200" dirty="0">
                <a:solidFill>
                  <a:srgbClr val="F5A6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90–100 приоритетная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Геймификация: карточка видит свой рынок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39180"/>
            <a:ext cx="501656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Бейджи за сильные стороны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2800" y="1991221"/>
            <a:ext cx="1595834" cy="38348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2067421"/>
            <a:ext cx="134183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A4F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Полная карточка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7534" y="1991221"/>
            <a:ext cx="1282204" cy="38348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7" name="Text 5"/>
          <p:cNvSpPr/>
          <p:nvPr/>
        </p:nvSpPr>
        <p:spPr>
          <a:xfrm>
            <a:off x="2649934" y="2067421"/>
            <a:ext cx="102820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A4F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Есть данные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68638" y="1991221"/>
            <a:ext cx="1588591" cy="38348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9" name="Text 7"/>
          <p:cNvSpPr/>
          <p:nvPr/>
        </p:nvSpPr>
        <p:spPr>
          <a:xfrm>
            <a:off x="4021038" y="2067421"/>
            <a:ext cx="133459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A4F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Измеримая цель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2463602"/>
            <a:ext cx="1344116" cy="38348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2539802"/>
            <a:ext cx="109011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A4F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Чёткие рамки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45816" y="2463602"/>
            <a:ext cx="1652588" cy="38348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3" name="Text 11"/>
          <p:cNvSpPr/>
          <p:nvPr/>
        </p:nvSpPr>
        <p:spPr>
          <a:xfrm>
            <a:off x="2398216" y="2539802"/>
            <a:ext cx="13985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A4F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Открытый диалог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3024882"/>
            <a:ext cx="501656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Студенты фильтруют каталог по бейджам — сильные задачи находят команды быстрее.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3718223"/>
            <a:ext cx="501656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Прогресс-бар готовности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2800" y="4170263"/>
            <a:ext cx="501656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Бизнес видит 78/100, чек-лист бейджей и подсказки «что добавить», чтобы дорасти до «Приоритетной».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0425" y="1542355"/>
            <a:ext cx="5435600" cy="4499670"/>
          </a:xfrm>
          <a:prstGeom prst="roundRect">
            <a:avLst>
              <a:gd name="adj" fmla="val 3316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3000" y="1824930"/>
            <a:ext cx="50165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3563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ОТКЛИК РЫНКА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23000" y="2177951"/>
            <a:ext cx="8855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23000" y="2629991"/>
            <a:ext cx="885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просмотров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1727" y="2177951"/>
            <a:ext cx="87828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11727" y="2629991"/>
            <a:ext cx="8782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сохранения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93212" y="2177951"/>
            <a:ext cx="59928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393212" y="2629991"/>
            <a:ext cx="5992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отклика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23000" y="2983012"/>
            <a:ext cx="501656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Конверсия </a:t>
            </a:r>
            <a:r>
              <a:rPr lang="en-US" sz="15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17%</a:t>
            </a:r>
            <a:r>
              <a:rPr lang="en-US" sz="1500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против медианы отрасли </a:t>
            </a:r>
            <a:r>
              <a:rPr lang="en-US" sz="15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25%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26175" y="3392587"/>
            <a:ext cx="4864100" cy="747911"/>
          </a:xfrm>
          <a:prstGeom prst="roundRect">
            <a:avLst>
              <a:gd name="adj" fmla="val 11462"/>
            </a:avLst>
          </a:prstGeom>
          <a:solidFill>
            <a:srgbClr val="FFF6E3"/>
          </a:solidFill>
          <a:ln w="6350">
            <a:solidFill>
              <a:srgbClr val="F0DC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4450" y="3535462"/>
            <a:ext cx="466337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A5A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Подсказка: задачу смотрят, но откликаются реже — дополните блок «Пользователи»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23000" y="4283373"/>
            <a:ext cx="501656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Сравнение честное: медианы считаются по задачам той же отрасли.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Студентам — реальный опыт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98216"/>
            <a:ext cx="5200650" cy="2142530"/>
          </a:xfrm>
          <a:prstGeom prst="roundRect">
            <a:avLst>
              <a:gd name="adj" fmla="val 5779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pic>
        <p:nvPicPr>
          <p:cNvPr id="4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1855391"/>
            <a:ext cx="254000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150" y="2210991"/>
            <a:ext cx="482688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Каталог с умными фильтрами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73150" y="2571651"/>
            <a:ext cx="482688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Отрасль, уровень готовности, бейджи, поиск — легко найти задачу по своим навыкам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175375" y="1598216"/>
            <a:ext cx="5200650" cy="2142530"/>
          </a:xfrm>
          <a:prstGeom prst="roundRect">
            <a:avLst>
              <a:gd name="adj" fmla="val 5779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pic>
        <p:nvPicPr>
          <p:cNvPr id="8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32550" y="1855391"/>
            <a:ext cx="254000" cy="254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32550" y="2210991"/>
            <a:ext cx="482688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Команды до 5 человек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432550" y="2571651"/>
            <a:ext cx="482688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Капитан, приглашения, профиль навыков — как в реальной продуктовой разработке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15975" y="3899495"/>
            <a:ext cx="5200650" cy="2142530"/>
          </a:xfrm>
          <a:prstGeom prst="roundRect">
            <a:avLst>
              <a:gd name="adj" fmla="val 5779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pic>
        <p:nvPicPr>
          <p:cNvPr id="12" name="Image 2" descr="PaperPla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3150" y="4156670"/>
            <a:ext cx="254000" cy="254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3150" y="4512270"/>
            <a:ext cx="482688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Осознанные отклики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073150" y="4872930"/>
            <a:ext cx="482688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Один живой отклик на задачу от команды — план и срок вместо спама заявками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175375" y="3899495"/>
            <a:ext cx="5200650" cy="2142530"/>
          </a:xfrm>
          <a:prstGeom prst="roundRect">
            <a:avLst>
              <a:gd name="adj" fmla="val 5779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pic>
        <p:nvPicPr>
          <p:cNvPr id="16" name="Image 3" descr="Sta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32550" y="4156670"/>
            <a:ext cx="254000" cy="254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32550" y="4512270"/>
            <a:ext cx="482688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Баллы и портфолио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6432550" y="4872930"/>
            <a:ext cx="482688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Подтверждённые этапы превращаются в баллы команды — измеримая репутация исполнителя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Под капотом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95041"/>
            <a:ext cx="5933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871861"/>
            <a:ext cx="59335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5DE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· async SQLAlchemy · PostgreSQL · Redis · Alembic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341761"/>
            <a:ext cx="5933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618581"/>
            <a:ext cx="593356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5DE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OpenAI Structured Outputs · кэш ответов · лимиты · журнал вызовов · фолбэк без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3355181"/>
            <a:ext cx="5933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632002"/>
            <a:ext cx="59335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5DE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19 · Vite · TanStack Query · Tailwind · три языка интерфейса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4101902"/>
            <a:ext cx="5933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ИНФРА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4378722"/>
            <a:ext cx="59335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5DE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 Compose: один make docker-up — и весь стек поднят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29140" y="1595041"/>
            <a:ext cx="4450060" cy="4450159"/>
          </a:xfrm>
          <a:prstGeom prst="roundRect">
            <a:avLst>
              <a:gd name="adj" fmla="val 3425"/>
            </a:avLst>
          </a:prstGeom>
          <a:solidFill>
            <a:srgbClr val="1A2537"/>
          </a:solidFill>
          <a:ln/>
        </p:spPr>
      </p:sp>
      <p:sp>
        <p:nvSpPr>
          <p:cNvPr id="12" name="Text 10"/>
          <p:cNvSpPr/>
          <p:nvPr/>
        </p:nvSpPr>
        <p:spPr>
          <a:xfrm>
            <a:off x="7233940" y="1908175"/>
            <a:ext cx="395567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F5A6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315</a:t>
            </a:r>
            <a:endParaRPr lang="en-US" sz="5500" dirty="0"/>
          </a:p>
        </p:txBody>
      </p:sp>
      <p:sp>
        <p:nvSpPr>
          <p:cNvPr id="13" name="Text 11"/>
          <p:cNvSpPr/>
          <p:nvPr/>
        </p:nvSpPr>
        <p:spPr>
          <a:xfrm>
            <a:off x="7233940" y="2644775"/>
            <a:ext cx="3955674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D5DE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автотестов — все на настоящем PostgreSQL, без моков базы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33940" y="3336131"/>
            <a:ext cx="395567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F5A6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RU·EN·KK</a:t>
            </a:r>
            <a:endParaRPr lang="en-US" sz="5500" dirty="0"/>
          </a:p>
        </p:txBody>
      </p:sp>
      <p:sp>
        <p:nvSpPr>
          <p:cNvPr id="15" name="Text 13"/>
          <p:cNvSpPr/>
          <p:nvPr/>
        </p:nvSpPr>
        <p:spPr>
          <a:xfrm>
            <a:off x="7233940" y="4072731"/>
            <a:ext cx="3955674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D5DE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три языка интерфейса из коробки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233940" y="4532709"/>
            <a:ext cx="395567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F5A6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</a:t>
            </a:r>
            <a:endParaRPr lang="en-US" sz="5500" dirty="0"/>
          </a:p>
        </p:txBody>
      </p:sp>
      <p:sp>
        <p:nvSpPr>
          <p:cNvPr id="17" name="Text 15"/>
          <p:cNvSpPr/>
          <p:nvPr/>
        </p:nvSpPr>
        <p:spPr>
          <a:xfrm>
            <a:off x="7233940" y="5269309"/>
            <a:ext cx="3955674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D5DE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демо-сценария проверено вживую в браузере — от регистрации до баллов за этап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Демо: сквозной сценарий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16"/>
            <a:ext cx="10560050" cy="577850"/>
          </a:xfrm>
          <a:prstGeom prst="roundRect">
            <a:avLst>
              <a:gd name="adj" fmla="val 17033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728391"/>
            <a:ext cx="165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563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9050" y="1737420"/>
            <a:ext cx="10177018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Бизнес вводит описание боли — AI собирает карточку, рейтинг </a:t>
            </a:r>
            <a:r>
              <a:rPr lang="en-US" sz="145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96</a:t>
            </a:r>
            <a:r>
              <a:rPr lang="en-US" sz="1450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уровень «Приоритетная»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15975" y="2284016"/>
            <a:ext cx="10560050" cy="577850"/>
          </a:xfrm>
          <a:prstGeom prst="roundRect">
            <a:avLst>
              <a:gd name="adj" fmla="val 17033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2350" y="2439591"/>
            <a:ext cx="165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563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9050" y="2448620"/>
            <a:ext cx="10177018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Студент находит задачу в каталоге — фильтр по бейджам «Есть данные» и «Измеримая цель»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15975" y="2995216"/>
            <a:ext cx="10560050" cy="577850"/>
          </a:xfrm>
          <a:prstGeom prst="roundRect">
            <a:avLst>
              <a:gd name="adj" fmla="val 17033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2350" y="3150791"/>
            <a:ext cx="165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563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9050" y="3159820"/>
            <a:ext cx="10177018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Команда Data Hawks отправляет отклик с планом и сроком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5975" y="3706416"/>
            <a:ext cx="10560050" cy="577850"/>
          </a:xfrm>
          <a:prstGeom prst="roundRect">
            <a:avLst>
              <a:gd name="adj" fmla="val 17033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350" y="3861991"/>
            <a:ext cx="165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563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9050" y="3871020"/>
            <a:ext cx="10177018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Бизнес сравнивает отклики, выбирает команду и ставит первый этап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5975" y="4417616"/>
            <a:ext cx="10560050" cy="577850"/>
          </a:xfrm>
          <a:prstGeom prst="roundRect">
            <a:avLst>
              <a:gd name="adj" fmla="val 17033"/>
            </a:avLst>
          </a:prstGeom>
          <a:solidFill>
            <a:srgbClr val="FDFDFB"/>
          </a:solidFill>
          <a:ln w="6350">
            <a:solidFill>
              <a:srgbClr val="E4E7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2350" y="4573191"/>
            <a:ext cx="165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563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9050" y="4582220"/>
            <a:ext cx="10177018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Этап подтверждён: </a:t>
            </a:r>
            <a:r>
              <a:rPr lang="en-US" sz="1450" b="1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+10 баллов</a:t>
            </a:r>
            <a:r>
              <a:rPr lang="en-US" sz="1450" dirty="0">
                <a:solidFill>
                  <a:srgbClr val="131F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команде, а «Отклик рынка» показывает конверсию против отрасли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2800" y="574298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563E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Без заглушек — всё, что вы увидите, работает вживую.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66689"/>
            <a:ext cx="10883392" cy="212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2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Бизнес получает решение.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2F5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Студент — опыт и портфолио.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5A6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Рынок — новых специалистов.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4199830"/>
            <a:ext cx="108833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9FB0C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Дальше: эскроу-платежи, партнёрство с вузами, публичный рейтинг команд.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482461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taskbridge</a:t>
            </a:r>
            <a:r>
              <a:rPr lang="en-US" sz="1500" dirty="0">
                <a:solidFill>
                  <a:srgbClr val="F5A6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r>
              <a:rPr lang="en-US" sz="15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команда Late Workers · спасибо!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 Workers</dc:title>
  <dc:subject>PptxGenJS Presentation</dc:subject>
  <dc:creator>PptxGenJS</dc:creator>
  <cp:lastModifiedBy>PptxGenJS</cp:lastModifiedBy>
  <cp:revision>1</cp:revision>
  <dcterms:created xsi:type="dcterms:W3CDTF">2026-09-23T12:43:20Z</dcterms:created>
  <dcterms:modified xsi:type="dcterms:W3CDTF">2026-09-23T12:43:20Z</dcterms:modified>
</cp:coreProperties>
</file>